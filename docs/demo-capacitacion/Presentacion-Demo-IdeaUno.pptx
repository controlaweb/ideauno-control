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3A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1B7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1B78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D1B7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IDEA UNO BIENES RAÍCES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Idea Uno Control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914400" y="32918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8DE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Plataforma de gestión inmobiliaria — captación, cierres, comisiones y pagos en un solo lugar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4937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1B7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Demostración de la plataforma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89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QUÉ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3A5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Del papel y el Excel, a un solo sistema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822960" cy="54864"/>
          </a:xfrm>
          <a:prstGeom prst="rect">
            <a:avLst/>
          </a:prstGeom>
          <a:solidFill>
            <a:srgbClr val="D1B78A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737360"/>
            <a:ext cx="5212080" cy="4114800"/>
          </a:xfrm>
          <a:prstGeom prst="roundRect">
            <a:avLst>
              <a:gd name="adj" fmla="val 2222"/>
            </a:avLst>
          </a:prstGeom>
          <a:solidFill>
            <a:srgbClr val="FDECE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659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Antes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560320"/>
            <a:ext cx="45720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0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Comisiones calculadas a mano, con errores.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0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Expedientes en papel y archivos sueltos.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0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 visibilidad del negocio en tiempo real.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0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Difícil saber quién autorizó qué.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55080" y="1737360"/>
            <a:ext cx="5212080" cy="4114800"/>
          </a:xfrm>
          <a:prstGeom prst="roundRect">
            <a:avLst>
              <a:gd name="adj" fmla="val 2222"/>
            </a:avLst>
          </a:prstGeom>
          <a:solidFill>
            <a:srgbClr val="E7F6EE"/>
          </a:solidFill>
          <a:ln w="12700">
            <a:solidFill>
              <a:srgbClr val="006C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29400" y="19659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C4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 Idea Uno Control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75120" y="2560320"/>
            <a:ext cx="45720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0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Motor que calcula la comisión automáticamente.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0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Documentos y expedientes dentro del sistema.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0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con KPIs, gráficas y rankings.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0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Auditoría: cada acción queda registrada.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Idea Uno Control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7295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89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QUIÉN USA LA PLATAFORMA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3A5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Cuatro roles, cada quien ve lo suyo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822960" cy="54864"/>
          </a:xfrm>
          <a:prstGeom prst="rect">
            <a:avLst/>
          </a:prstGeom>
          <a:solidFill>
            <a:srgbClr val="D1B78A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828800"/>
            <a:ext cx="5394960" cy="1691640"/>
          </a:xfrm>
          <a:prstGeom prst="roundRect">
            <a:avLst>
              <a:gd name="adj" fmla="val 5405"/>
            </a:avLst>
          </a:prstGeom>
          <a:solidFill>
            <a:srgbClr val="F4F1EC"/>
          </a:solidFill>
          <a:ln w="12700">
            <a:solidFill>
              <a:srgbClr val="E2DD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28800"/>
            <a:ext cx="109728" cy="1691640"/>
          </a:xfrm>
          <a:prstGeom prst="rect">
            <a:avLst/>
          </a:prstGeom>
          <a:solidFill>
            <a:srgbClr val="213A55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08483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3A5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Super Admin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60120" y="265176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0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 total del sistema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55080" y="1828800"/>
            <a:ext cx="5394960" cy="1691640"/>
          </a:xfrm>
          <a:prstGeom prst="roundRect">
            <a:avLst>
              <a:gd name="adj" fmla="val 5405"/>
            </a:avLst>
          </a:prstGeom>
          <a:solidFill>
            <a:srgbClr val="F4F1EC"/>
          </a:solidFill>
          <a:ln w="12700">
            <a:solidFill>
              <a:srgbClr val="E2DD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1828800"/>
            <a:ext cx="109728" cy="16916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08483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40A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Admin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675120" y="265176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0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 cierres, libera comisiones, autoriza pagos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794760"/>
            <a:ext cx="5394960" cy="1691640"/>
          </a:xfrm>
          <a:prstGeom prst="roundRect">
            <a:avLst>
              <a:gd name="adj" fmla="val 5405"/>
            </a:avLst>
          </a:prstGeom>
          <a:solidFill>
            <a:srgbClr val="F4F1EC"/>
          </a:solidFill>
          <a:ln w="12700">
            <a:solidFill>
              <a:srgbClr val="E2DD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794760"/>
            <a:ext cx="109728" cy="16916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05079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4530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Jurídico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960120" y="461772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0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Contratos y liberación de comisiones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355080" y="3794760"/>
            <a:ext cx="5394960" cy="1691640"/>
          </a:xfrm>
          <a:prstGeom prst="roundRect">
            <a:avLst>
              <a:gd name="adj" fmla="val 5405"/>
            </a:avLst>
          </a:prstGeom>
          <a:solidFill>
            <a:srgbClr val="F4F1EC"/>
          </a:solidFill>
          <a:ln w="12700">
            <a:solidFill>
              <a:srgbClr val="E2DD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55080" y="3794760"/>
            <a:ext cx="109728" cy="1691640"/>
          </a:xfrm>
          <a:prstGeom prst="rect">
            <a:avLst/>
          </a:prstGeom>
          <a:solidFill>
            <a:srgbClr val="006C49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405079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6C4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Asesor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675120" y="461772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0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Capta, cierra y solicita el pago de sus comisiones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720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Idea Uno Control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7295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89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HISTORIA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3A5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El flujo completo de una operación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822960" cy="54864"/>
          </a:xfrm>
          <a:prstGeom prst="rect">
            <a:avLst/>
          </a:prstGeom>
          <a:solidFill>
            <a:srgbClr val="D1B78A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2377440"/>
            <a:ext cx="1691640" cy="1920240"/>
          </a:xfrm>
          <a:prstGeom prst="roundRect">
            <a:avLst>
              <a:gd name="adj" fmla="val 4324"/>
            </a:avLst>
          </a:prstGeom>
          <a:solidFill>
            <a:srgbClr val="F4F1EC"/>
          </a:solidFill>
          <a:ln w="15875">
            <a:solidFill>
              <a:srgbClr val="1E40A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93292" y="2606040"/>
            <a:ext cx="585216" cy="585216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7" name="Text 5"/>
          <p:cNvSpPr/>
          <p:nvPr/>
        </p:nvSpPr>
        <p:spPr>
          <a:xfrm>
            <a:off x="1193292" y="2679192"/>
            <a:ext cx="5852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5800" y="333756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20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Captación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85800" y="37490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0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Alta de propiedad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313432" y="31546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894F"/>
                </a:solidFill>
              </a:rPr>
              <a:t>▶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450592" y="2377440"/>
            <a:ext cx="1691640" cy="1920240"/>
          </a:xfrm>
          <a:prstGeom prst="roundRect">
            <a:avLst>
              <a:gd name="adj" fmla="val 4324"/>
            </a:avLst>
          </a:prstGeom>
          <a:solidFill>
            <a:srgbClr val="F4F1EC"/>
          </a:solidFill>
          <a:ln w="15875">
            <a:solidFill>
              <a:srgbClr val="006C4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03804" y="2606040"/>
            <a:ext cx="585216" cy="585216"/>
          </a:xfrm>
          <a:prstGeom prst="ellipse">
            <a:avLst/>
          </a:prstGeom>
          <a:solidFill>
            <a:srgbClr val="006C49"/>
          </a:solidFill>
          <a:ln/>
        </p:spPr>
      </p:sp>
      <p:sp>
        <p:nvSpPr>
          <p:cNvPr id="13" name="Text 11"/>
          <p:cNvSpPr/>
          <p:nvPr/>
        </p:nvSpPr>
        <p:spPr>
          <a:xfrm>
            <a:off x="3003804" y="2679192"/>
            <a:ext cx="5852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496312" y="333756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20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Cierre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2496312" y="37490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0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Comisión calculada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123944" y="31546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894F"/>
                </a:solidFill>
              </a:rPr>
              <a:t>▶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61104" y="2377440"/>
            <a:ext cx="1691640" cy="1920240"/>
          </a:xfrm>
          <a:prstGeom prst="roundRect">
            <a:avLst>
              <a:gd name="adj" fmla="val 4324"/>
            </a:avLst>
          </a:prstGeom>
          <a:solidFill>
            <a:srgbClr val="F4F1EC"/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14316" y="2606040"/>
            <a:ext cx="585216" cy="585216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9" name="Text 17"/>
          <p:cNvSpPr/>
          <p:nvPr/>
        </p:nvSpPr>
        <p:spPr>
          <a:xfrm>
            <a:off x="4814316" y="2679192"/>
            <a:ext cx="5852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306824" y="333756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20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Validar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306824" y="37490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0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valida el cierre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934456" y="31546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894F"/>
                </a:solidFill>
              </a:rPr>
              <a:t>▶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71616" y="2377440"/>
            <a:ext cx="1691640" cy="1920240"/>
          </a:xfrm>
          <a:prstGeom prst="roundRect">
            <a:avLst>
              <a:gd name="adj" fmla="val 4324"/>
            </a:avLst>
          </a:prstGeom>
          <a:solidFill>
            <a:srgbClr val="F4F1EC"/>
          </a:solidFill>
          <a:ln w="15875">
            <a:solidFill>
              <a:srgbClr val="A8894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24828" y="2606040"/>
            <a:ext cx="585216" cy="585216"/>
          </a:xfrm>
          <a:prstGeom prst="ellipse">
            <a:avLst/>
          </a:prstGeom>
          <a:solidFill>
            <a:srgbClr val="A8894F"/>
          </a:solidFill>
          <a:ln/>
        </p:spPr>
      </p:sp>
      <p:sp>
        <p:nvSpPr>
          <p:cNvPr id="25" name="Text 23"/>
          <p:cNvSpPr/>
          <p:nvPr/>
        </p:nvSpPr>
        <p:spPr>
          <a:xfrm>
            <a:off x="6624828" y="2679192"/>
            <a:ext cx="5852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117336" y="333756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20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Comisión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117336" y="37490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0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Calculada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744968" y="31546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894F"/>
                </a:solidFill>
              </a:rPr>
              <a:t>▶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882128" y="2377440"/>
            <a:ext cx="1691640" cy="1920240"/>
          </a:xfrm>
          <a:prstGeom prst="roundRect">
            <a:avLst>
              <a:gd name="adj" fmla="val 4324"/>
            </a:avLst>
          </a:prstGeom>
          <a:solidFill>
            <a:srgbClr val="F4F1EC"/>
          </a:solidFill>
          <a:ln w="15875">
            <a:solidFill>
              <a:srgbClr val="006C4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35340" y="2606040"/>
            <a:ext cx="585216" cy="585216"/>
          </a:xfrm>
          <a:prstGeom prst="ellipse">
            <a:avLst/>
          </a:prstGeom>
          <a:solidFill>
            <a:srgbClr val="006C49"/>
          </a:solidFill>
          <a:ln/>
        </p:spPr>
      </p:sp>
      <p:sp>
        <p:nvSpPr>
          <p:cNvPr id="31" name="Text 29"/>
          <p:cNvSpPr/>
          <p:nvPr/>
        </p:nvSpPr>
        <p:spPr>
          <a:xfrm>
            <a:off x="8435340" y="2679192"/>
            <a:ext cx="5852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927848" y="333756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20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Liberar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7927848" y="37490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0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Autorización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555480" y="31546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894F"/>
                </a:solidFill>
              </a:rPr>
              <a:t>▶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692640" y="2377440"/>
            <a:ext cx="1691640" cy="1920240"/>
          </a:xfrm>
          <a:prstGeom prst="roundRect">
            <a:avLst>
              <a:gd name="adj" fmla="val 4324"/>
            </a:avLst>
          </a:prstGeom>
          <a:solidFill>
            <a:srgbClr val="F4F1EC"/>
          </a:solidFill>
          <a:ln w="15875">
            <a:solidFill>
              <a:srgbClr val="213A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245852" y="2606040"/>
            <a:ext cx="585216" cy="585216"/>
          </a:xfrm>
          <a:prstGeom prst="ellipse">
            <a:avLst/>
          </a:prstGeom>
          <a:solidFill>
            <a:srgbClr val="213A55"/>
          </a:solidFill>
          <a:ln/>
        </p:spPr>
      </p:sp>
      <p:sp>
        <p:nvSpPr>
          <p:cNvPr id="37" name="Text 35"/>
          <p:cNvSpPr/>
          <p:nvPr/>
        </p:nvSpPr>
        <p:spPr>
          <a:xfrm>
            <a:off x="10245852" y="2679192"/>
            <a:ext cx="5852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9738360" y="333756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20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Pago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9738360" y="37490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0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Solicitud y liquidación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40080" y="489204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3E9D6"/>
          </a:solidFill>
          <a:ln w="12700">
            <a:solidFill>
              <a:srgbClr val="D1B78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4400" y="507492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Punto clave:  </a:t>
            </a:r>
            <a:pPr indent="0" marL="0">
              <a:buNone/>
            </a:pPr>
            <a:r>
              <a:rPr lang="en-US" sz="1400" dirty="0">
                <a:solidFill>
                  <a:srgbClr val="1A20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se puede liberar una comisión hasta que el cierre esté validado y su expediente PLD completo.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5720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Idea Uno Control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277295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89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MÓDULO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3A5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Dashboard: el negocio de un vistazo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822960" cy="54864"/>
          </a:xfrm>
          <a:prstGeom prst="rect">
            <a:avLst/>
          </a:prstGeom>
          <a:solidFill>
            <a:srgbClr val="D1B78A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828800"/>
            <a:ext cx="5394960" cy="1600200"/>
          </a:xfrm>
          <a:prstGeom prst="roundRect">
            <a:avLst>
              <a:gd name="adj" fmla="val 5714"/>
            </a:avLst>
          </a:prstGeom>
          <a:solidFill>
            <a:srgbClr val="F4F1EC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0574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3A5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KPIs en vivo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26060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Operaciones, comisiones por liberar, ingreso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55080" y="1828800"/>
            <a:ext cx="5394960" cy="1600200"/>
          </a:xfrm>
          <a:prstGeom prst="roundRect">
            <a:avLst>
              <a:gd name="adj" fmla="val 5714"/>
            </a:avLst>
          </a:prstGeom>
          <a:solidFill>
            <a:srgbClr val="F4F1EC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0" y="20574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3A5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Gráficas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675120" y="26060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Comisión por mes, propiedades, distribución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703320"/>
            <a:ext cx="5394960" cy="1600200"/>
          </a:xfrm>
          <a:prstGeom prst="roundRect">
            <a:avLst>
              <a:gd name="adj" fmla="val 5714"/>
            </a:avLst>
          </a:prstGeom>
          <a:solidFill>
            <a:srgbClr val="F4F1EC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9319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3A5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Rankings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60120" y="448056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Mejores vendedores, captadores e invitadores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55080" y="3703320"/>
            <a:ext cx="5394960" cy="1600200"/>
          </a:xfrm>
          <a:prstGeom prst="roundRect">
            <a:avLst>
              <a:gd name="adj" fmla="val 5714"/>
            </a:avLst>
          </a:prstGeom>
          <a:solidFill>
            <a:srgbClr val="F4F1EC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39319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3A5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Pendientes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675120" y="448056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Cierres, comisiones y pagos por resolver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5715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0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administrador también ve el “Mi Dashboard” de cualquier asesor con un selector.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Idea Uno Control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7295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89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MÓDULO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3A5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Captación e inventario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822960" cy="54864"/>
          </a:xfrm>
          <a:prstGeom prst="rect">
            <a:avLst/>
          </a:prstGeom>
          <a:solidFill>
            <a:srgbClr val="D1B78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104241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20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Alta de propiedades en venta o renta con su expediente completo.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20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Documentos (identificación, contrato, predial) guardados en el sistema.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20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Estatus claro: Incompleta, En revisión, Activa, Publicable, Compartible.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20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 de qué propiedades tienen contrato de comisión firmado.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539496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E7F6EE"/>
          </a:solidFill>
          <a:ln w="12700">
            <a:solidFill>
              <a:srgbClr val="006C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553212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Demo: damos de alta una propiedad y subimos su contrato en PDF.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Idea Uno Control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7295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89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MÓDULO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3A5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Cierres y motor de comisiones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822960" cy="54864"/>
          </a:xfrm>
          <a:prstGeom prst="rect">
            <a:avLst/>
          </a:prstGeom>
          <a:solidFill>
            <a:srgbClr val="D1B78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104241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0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 registrar un cierre, el sistema calcula la comisión solo.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0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Reparte automáticamente entre asesor, inmobiliaria, invitación y mentoría.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0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Cero cálculos a mano, cero discusiones por montos.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4114800"/>
            <a:ext cx="10881360" cy="1737360"/>
          </a:xfrm>
          <a:prstGeom prst="roundRect">
            <a:avLst>
              <a:gd name="adj" fmla="val 5263"/>
            </a:avLst>
          </a:prstGeom>
          <a:solidFill>
            <a:srgbClr val="213A55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4297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1B78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Cómo reparte el motor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48006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Comisión total  </a:t>
            </a:r>
            <a:pPr indent="0" marL="0">
              <a:buNone/>
            </a:pPr>
            <a:r>
              <a:rPr lang="en-US" sz="1500" dirty="0">
                <a:solidFill>
                  <a:srgbClr val="D8DE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2.5% invitación  →  remanente  →  </a:t>
            </a:r>
            <a:pPr indent="0" marL="0">
              <a:buNone/>
            </a:pPr>
            <a:r>
              <a:rPr lang="en-US" sz="1500" b="1" dirty="0">
                <a:solidFill>
                  <a:srgbClr val="D1B7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80% asesor</a:t>
            </a:r>
            <a:pPr indent="0" marL="0">
              <a:buNone/>
            </a:pPr>
            <a:r>
              <a:rPr lang="en-US" sz="1500" dirty="0">
                <a:solidFill>
                  <a:srgbClr val="D8DE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(100% si alcanzó AMA)  →  5% mentoría  →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resto: inmobiliaria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Idea Uno Control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77295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89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CORAZÓN DEL CONTROL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3A5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Comisiones: liberar y bloquear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822960" cy="54864"/>
          </a:xfrm>
          <a:prstGeom prst="rect">
            <a:avLst/>
          </a:prstGeom>
          <a:solidFill>
            <a:srgbClr val="D1B78A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828800"/>
            <a:ext cx="5394960" cy="3840480"/>
          </a:xfrm>
          <a:prstGeom prst="roundRect">
            <a:avLst>
              <a:gd name="adj" fmla="val 2381"/>
            </a:avLst>
          </a:prstGeom>
          <a:solidFill>
            <a:srgbClr val="E7F6EE"/>
          </a:solidFill>
          <a:ln w="12700">
            <a:solidFill>
              <a:srgbClr val="006C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574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C4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Liberar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2651760"/>
            <a:ext cx="47548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0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Autoriza que la comisión pase a pago.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0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Requiere el cierre validado y PLD completo.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0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comisión queda “Liberada”.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0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asesor ya puede solicitar su pago.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55080" y="1828800"/>
            <a:ext cx="5166360" cy="3840480"/>
          </a:xfrm>
          <a:prstGeom prst="roundRect">
            <a:avLst>
              <a:gd name="adj" fmla="val 2381"/>
            </a:avLst>
          </a:prstGeom>
          <a:solidFill>
            <a:srgbClr val="FDECE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29400" y="20574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91C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Bloquear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675120" y="2651760"/>
            <a:ext cx="45720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0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Detiene el pago cuando falta algo.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0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Pide un motivo (obligatorio).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0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Queda registrado en Auditoría.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0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puede desbloquear al resolverse.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Idea Uno Control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7295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89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MÓDULO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3A5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Pagos: el ciclo del dinero, trazado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822960" cy="54864"/>
          </a:xfrm>
          <a:prstGeom prst="rect">
            <a:avLst/>
          </a:prstGeom>
          <a:solidFill>
            <a:srgbClr val="D1B78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104241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20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asesor solicita el pago de una comisión liberada.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20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Administración autoriza la solicitud.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20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registra la transferencia (forma de pago, CFDI o referencia).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20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Estados claros: Solicitado → Autorizado → Pagado.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539496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E7F6EE"/>
          </a:solidFill>
          <a:ln w="12700">
            <a:solidFill>
              <a:srgbClr val="006C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553212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Todo el recorrido del dinero queda registrado y consultable.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Idea Uno Control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7295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89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CONFIANZA Y CONTROL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3A5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Cumplimiento PLD y Auditoría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822960" cy="54864"/>
          </a:xfrm>
          <a:prstGeom prst="rect">
            <a:avLst/>
          </a:prstGeom>
          <a:solidFill>
            <a:srgbClr val="D1B78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104241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20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Prevención de Lavado de Dinero: casos, alertas y verificación de expedientes.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20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Bitácora de auditoría: cada acción sensible queda registrada con usuario y fecha.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20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Bloqueos, liberaciones y cambios de estatus: todo con rastro.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20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Ideal para responder “¿quién hizo qué y cuándo?”.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Idea Uno Control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7295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89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DIFERENCIADOR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3A5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 plataforma se enseña sola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822960" cy="54864"/>
          </a:xfrm>
          <a:prstGeom prst="rect">
            <a:avLst/>
          </a:prstGeom>
          <a:solidFill>
            <a:srgbClr val="D1B78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104241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20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Módulo “Guía de Uso” interactivo dentro del sistema.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20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Buscador de dudas, guías paso a paso y preguntas frecuentes.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20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Botones que llevan al usuario directo al lugar exacto.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20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Glosario de todos los estados del sistema.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539496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E7F6EE"/>
          </a:solidFill>
          <a:ln w="12700">
            <a:solidFill>
              <a:srgbClr val="006C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553212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Menos capacitación, menos soporte: el usuario encuentra cómo hacer las cosas.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Idea Uno Control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7295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89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QUÉ IMPORTA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3A5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 que gana el negocio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822960" cy="54864"/>
          </a:xfrm>
          <a:prstGeom prst="rect">
            <a:avLst/>
          </a:prstGeom>
          <a:solidFill>
            <a:srgbClr val="D1B78A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920240"/>
            <a:ext cx="3474720" cy="1737360"/>
          </a:xfrm>
          <a:prstGeom prst="roundRect">
            <a:avLst>
              <a:gd name="adj" fmla="val 5263"/>
            </a:avLst>
          </a:prstGeom>
          <a:solidFill>
            <a:srgbClr val="F4F1EC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920240"/>
            <a:ext cx="3474720" cy="91440"/>
          </a:xfrm>
          <a:prstGeom prst="rect">
            <a:avLst/>
          </a:prstGeom>
          <a:solidFill>
            <a:srgbClr val="006C49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945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C4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Precisión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7889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Comisiones sin errores de cálculo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920240"/>
            <a:ext cx="3474720" cy="1737360"/>
          </a:xfrm>
          <a:prstGeom prst="roundRect">
            <a:avLst>
              <a:gd name="adj" fmla="val 5263"/>
            </a:avLst>
          </a:prstGeom>
          <a:solidFill>
            <a:srgbClr val="F4F1EC"/>
          </a:solidFill>
          <a:ln/>
        </p:spPr>
      </p:sp>
      <p:sp>
        <p:nvSpPr>
          <p:cNvPr id="10" name="Shape 8"/>
          <p:cNvSpPr/>
          <p:nvPr/>
        </p:nvSpPr>
        <p:spPr>
          <a:xfrm>
            <a:off x="4343400" y="1920240"/>
            <a:ext cx="3474720" cy="914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1945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Visibilidad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17720" y="27889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negocio en tiempo real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46720" y="1920240"/>
            <a:ext cx="3474720" cy="1737360"/>
          </a:xfrm>
          <a:prstGeom prst="roundRect">
            <a:avLst>
              <a:gd name="adj" fmla="val 5263"/>
            </a:avLst>
          </a:prstGeom>
          <a:solidFill>
            <a:srgbClr val="F4F1EC"/>
          </a:solidFill>
          <a:ln/>
        </p:spPr>
      </p:sp>
      <p:sp>
        <p:nvSpPr>
          <p:cNvPr id="14" name="Shape 12"/>
          <p:cNvSpPr/>
          <p:nvPr/>
        </p:nvSpPr>
        <p:spPr>
          <a:xfrm>
            <a:off x="8046720" y="1920240"/>
            <a:ext cx="347472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5" name="Text 13"/>
          <p:cNvSpPr/>
          <p:nvPr/>
        </p:nvSpPr>
        <p:spPr>
          <a:xfrm>
            <a:off x="8321040" y="21945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30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Control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21040" y="27889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Liberar/bloquear con motivo y rastro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3886200"/>
            <a:ext cx="3474720" cy="1737360"/>
          </a:xfrm>
          <a:prstGeom prst="roundRect">
            <a:avLst>
              <a:gd name="adj" fmla="val 5263"/>
            </a:avLst>
          </a:prstGeom>
          <a:solidFill>
            <a:srgbClr val="F4F1EC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3886200"/>
            <a:ext cx="3474720" cy="9144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1605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Cumplimiento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4400" y="47548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PLD y auditoría integrados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43400" y="3886200"/>
            <a:ext cx="3474720" cy="1737360"/>
          </a:xfrm>
          <a:prstGeom prst="roundRect">
            <a:avLst>
              <a:gd name="adj" fmla="val 5263"/>
            </a:avLst>
          </a:prstGeom>
          <a:solidFill>
            <a:srgbClr val="F4F1EC"/>
          </a:solidFill>
          <a:ln/>
        </p:spPr>
      </p:sp>
      <p:sp>
        <p:nvSpPr>
          <p:cNvPr id="22" name="Shape 20"/>
          <p:cNvSpPr/>
          <p:nvPr/>
        </p:nvSpPr>
        <p:spPr>
          <a:xfrm>
            <a:off x="4343400" y="3886200"/>
            <a:ext cx="3474720" cy="91440"/>
          </a:xfrm>
          <a:prstGeom prst="rect">
            <a:avLst/>
          </a:prstGeom>
          <a:solidFill>
            <a:srgbClr val="A8894F"/>
          </a:solidFill>
          <a:ln/>
        </p:spPr>
      </p:sp>
      <p:sp>
        <p:nvSpPr>
          <p:cNvPr id="23" name="Text 21"/>
          <p:cNvSpPr/>
          <p:nvPr/>
        </p:nvSpPr>
        <p:spPr>
          <a:xfrm>
            <a:off x="4617720" y="41605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894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Rapidez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617720" y="47548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Menos papeleo, más cierres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46720" y="3886200"/>
            <a:ext cx="3474720" cy="1737360"/>
          </a:xfrm>
          <a:prstGeom prst="roundRect">
            <a:avLst>
              <a:gd name="adj" fmla="val 5263"/>
            </a:avLst>
          </a:prstGeom>
          <a:solidFill>
            <a:srgbClr val="F4F1EC"/>
          </a:solidFill>
          <a:ln/>
        </p:spPr>
      </p:sp>
      <p:sp>
        <p:nvSpPr>
          <p:cNvPr id="26" name="Shape 24"/>
          <p:cNvSpPr/>
          <p:nvPr/>
        </p:nvSpPr>
        <p:spPr>
          <a:xfrm>
            <a:off x="8046720" y="3886200"/>
            <a:ext cx="3474720" cy="91440"/>
          </a:xfrm>
          <a:prstGeom prst="rect">
            <a:avLst/>
          </a:prstGeom>
          <a:solidFill>
            <a:srgbClr val="213A55"/>
          </a:solidFill>
          <a:ln/>
        </p:spPr>
      </p:sp>
      <p:sp>
        <p:nvSpPr>
          <p:cNvPr id="27" name="Text 25"/>
          <p:cNvSpPr/>
          <p:nvPr/>
        </p:nvSpPr>
        <p:spPr>
          <a:xfrm>
            <a:off x="8321040" y="41605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3A5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Autonomía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321040" y="47548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Guía interactiva para el equipo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Idea Uno Control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7295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89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LA JUNTA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3A5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Recorrido de la demostración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822960" cy="54864"/>
          </a:xfrm>
          <a:prstGeom prst="rect">
            <a:avLst/>
          </a:prstGeom>
          <a:solidFill>
            <a:srgbClr val="D1B78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965960"/>
            <a:ext cx="502920" cy="502920"/>
          </a:xfrm>
          <a:prstGeom prst="ellipse">
            <a:avLst/>
          </a:prstGeom>
          <a:solidFill>
            <a:srgbClr val="213A5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20824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984248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0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 y roles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434840" y="1965960"/>
            <a:ext cx="502920" cy="502920"/>
          </a:xfrm>
          <a:prstGeom prst="ellipse">
            <a:avLst/>
          </a:prstGeom>
          <a:solidFill>
            <a:srgbClr val="213A55"/>
          </a:solidFill>
          <a:ln/>
        </p:spPr>
      </p:sp>
      <p:sp>
        <p:nvSpPr>
          <p:cNvPr id="9" name="Text 7"/>
          <p:cNvSpPr/>
          <p:nvPr/>
        </p:nvSpPr>
        <p:spPr>
          <a:xfrm>
            <a:off x="4434840" y="2020824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74920" y="1984248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0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administrativo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138160" y="1965960"/>
            <a:ext cx="502920" cy="502920"/>
          </a:xfrm>
          <a:prstGeom prst="ellipse">
            <a:avLst/>
          </a:prstGeom>
          <a:solidFill>
            <a:srgbClr val="213A55"/>
          </a:solidFill>
          <a:ln/>
        </p:spPr>
      </p:sp>
      <p:sp>
        <p:nvSpPr>
          <p:cNvPr id="12" name="Text 10"/>
          <p:cNvSpPr/>
          <p:nvPr/>
        </p:nvSpPr>
        <p:spPr>
          <a:xfrm>
            <a:off x="8138160" y="2020824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778240" y="1984248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0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 Dashboard de un asesor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31520" y="3291840"/>
            <a:ext cx="502920" cy="502920"/>
          </a:xfrm>
          <a:prstGeom prst="ellipse">
            <a:avLst/>
          </a:prstGeom>
          <a:solidFill>
            <a:srgbClr val="213A5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346704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71600" y="3310128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0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Guía de Uso interactiva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434840" y="3291840"/>
            <a:ext cx="502920" cy="502920"/>
          </a:xfrm>
          <a:prstGeom prst="ellipse">
            <a:avLst/>
          </a:prstGeom>
          <a:solidFill>
            <a:srgbClr val="213A55"/>
          </a:solidFill>
          <a:ln/>
        </p:spPr>
      </p:sp>
      <p:sp>
        <p:nvSpPr>
          <p:cNvPr id="18" name="Text 16"/>
          <p:cNvSpPr/>
          <p:nvPr/>
        </p:nvSpPr>
        <p:spPr>
          <a:xfrm>
            <a:off x="4434840" y="3346704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74920" y="3310128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0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Captación de una propiedad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138160" y="3291840"/>
            <a:ext cx="502920" cy="502920"/>
          </a:xfrm>
          <a:prstGeom prst="ellipse">
            <a:avLst/>
          </a:prstGeom>
          <a:solidFill>
            <a:srgbClr val="213A55"/>
          </a:solidFill>
          <a:ln/>
        </p:spPr>
      </p:sp>
      <p:sp>
        <p:nvSpPr>
          <p:cNvPr id="21" name="Text 19"/>
          <p:cNvSpPr/>
          <p:nvPr/>
        </p:nvSpPr>
        <p:spPr>
          <a:xfrm>
            <a:off x="8138160" y="3346704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778240" y="3310128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0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 y validar un cierre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731520" y="4617720"/>
            <a:ext cx="502920" cy="502920"/>
          </a:xfrm>
          <a:prstGeom prst="ellipse">
            <a:avLst/>
          </a:prstGeom>
          <a:solidFill>
            <a:srgbClr val="213A55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672584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371600" y="4636008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0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Liberar y bloquear comisiones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4434840" y="4617720"/>
            <a:ext cx="502920" cy="502920"/>
          </a:xfrm>
          <a:prstGeom prst="ellipse">
            <a:avLst/>
          </a:prstGeom>
          <a:solidFill>
            <a:srgbClr val="213A55"/>
          </a:solidFill>
          <a:ln/>
        </p:spPr>
      </p:sp>
      <p:sp>
        <p:nvSpPr>
          <p:cNvPr id="27" name="Text 25"/>
          <p:cNvSpPr/>
          <p:nvPr/>
        </p:nvSpPr>
        <p:spPr>
          <a:xfrm>
            <a:off x="4434840" y="4672584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074920" y="4636008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0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Solicitar y autorizar un pago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8138160" y="4617720"/>
            <a:ext cx="502920" cy="502920"/>
          </a:xfrm>
          <a:prstGeom prst="ellipse">
            <a:avLst/>
          </a:prstGeom>
          <a:solidFill>
            <a:srgbClr val="213A55"/>
          </a:solidFill>
          <a:ln/>
        </p:spPr>
      </p:sp>
      <p:sp>
        <p:nvSpPr>
          <p:cNvPr id="30" name="Text 28"/>
          <p:cNvSpPr/>
          <p:nvPr/>
        </p:nvSpPr>
        <p:spPr>
          <a:xfrm>
            <a:off x="8138160" y="4672584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9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778240" y="4636008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0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Vista de un asesor (permisos)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45720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Idea Uno Control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7295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3A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1B7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1B78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37744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Gracias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3566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8DE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Idea Uno Control — captación, cierres, comisiones y pagos, bajo control.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4389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1B7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¿Preguntas?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Idea Uno Bienes Raíces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Demostración — Idea Uno Control</dc:title>
  <dc:subject>PptxGenJS Presentation</dc:subject>
  <dc:creator>Idea Uno Control</dc:creator>
  <cp:lastModifiedBy>Idea Uno Control</cp:lastModifiedBy>
  <cp:revision>1</cp:revision>
  <dcterms:created xsi:type="dcterms:W3CDTF">2026-07-03T22:42:10Z</dcterms:created>
  <dcterms:modified xsi:type="dcterms:W3CDTF">2026-07-03T22:42:10Z</dcterms:modified>
</cp:coreProperties>
</file>